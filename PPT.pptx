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8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25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38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4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2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59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24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12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14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97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95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63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212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22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931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7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6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05877" y="2256327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3E2EC"/>
                </a:solidFill>
              </a:defRPr>
            </a:pPr>
            <a:r>
              <a:rPr dirty="0"/>
              <a:t>Production • Weather • NPK Fertilizer • Crop Mix • Climate Impact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17065D-A26F-802B-AA62-FDED6D4C2363}"/>
              </a:ext>
            </a:extLst>
          </p:cNvPr>
          <p:cNvSpPr txBox="1"/>
          <p:nvPr/>
        </p:nvSpPr>
        <p:spPr>
          <a:xfrm>
            <a:off x="1574403" y="1069623"/>
            <a:ext cx="88333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/>
              <a:t>INDIAN  AGRICULTURE</a:t>
            </a:r>
          </a:p>
        </p:txBody>
      </p:sp>
      <p:pic>
        <p:nvPicPr>
          <p:cNvPr id="12" name="Picture 11" descr="Coconut tree leaves">
            <a:extLst>
              <a:ext uri="{FF2B5EF4-FFF2-40B4-BE49-F238E27FC236}">
                <a16:creationId xmlns:a16="http://schemas.microsoft.com/office/drawing/2014/main" id="{754F178A-FE99-C444-A5A6-4704319E88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4592" y="0"/>
            <a:ext cx="12027408" cy="68579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44B28E5-732B-FF53-4124-F321DE60B756}"/>
              </a:ext>
            </a:extLst>
          </p:cNvPr>
          <p:cNvSpPr txBox="1"/>
          <p:nvPr/>
        </p:nvSpPr>
        <p:spPr>
          <a:xfrm>
            <a:off x="447055" y="5080248"/>
            <a:ext cx="48867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By</a:t>
            </a:r>
          </a:p>
          <a:p>
            <a:pPr algn="ctr"/>
            <a:r>
              <a:rPr lang="en-IN" sz="4000" dirty="0" err="1"/>
              <a:t>V.ShyamalaDevi</a:t>
            </a:r>
            <a:endParaRPr lang="en-IN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753"/>
                </a:solidFill>
                <a:latin typeface="Aptos Display"/>
              </a:defRPr>
            </a:pPr>
            <a:r>
              <a:t>Introduction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Using dashboard visuals to understand production and resource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753"/>
                </a:solidFill>
              </a:defRPr>
            </a:pPr>
            <a:r>
              <a:rPr dirty="0"/>
              <a:t>Project objectives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Summarize agricultural production across the major seasons.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Compare crop-level requirements for potassium (K), nitrogen (N) and phosphorus (P).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Examine the distribution of crop-related measures across selected crop types.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Relate seasonal conditions and weather patterns to agricultural performance.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Provide a concise evidence base for planning farm inputs and monitoring trends.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842" y="1225296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753"/>
                </a:solidFill>
              </a:defRPr>
            </a:pPr>
            <a:r>
              <a:rPr dirty="0"/>
              <a:t>What the dashboard helps answer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Production view: whole-year output is substantially higher than individual seasonal segments.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Resource view: fertilizer requirements vary materially by crop.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Seasonal view: the dashboard separates whole-year, kharif, rabi and summer periods.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Impact view: percentage and distribution charts support comparison across observations.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2"/>
                </a:solidFill>
              </a:defRPr>
            </a:pPr>
            <a:r>
              <a:t>Agricultural Production &amp; Resource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753"/>
                </a:solidFill>
                <a:latin typeface="Aptos Display"/>
              </a:defRPr>
            </a:pPr>
            <a:r>
              <a:t>KPI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Key values visible in the supplied dashboard visuals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2500" b="1">
                <a:solidFill>
                  <a:srgbClr val="183753"/>
                </a:solidFill>
              </a:defRPr>
            </a:pPr>
            <a:r>
              <a:t>0.55M</a:t>
            </a:r>
          </a:p>
          <a:p>
            <a:pPr>
              <a:spcBef>
                <a:spcPts val="300"/>
              </a:spcBef>
              <a:defRPr sz="1100">
                <a:solidFill>
                  <a:srgbClr val="647482"/>
                </a:solidFill>
              </a:defRPr>
            </a:pPr>
            <a:r>
              <a:t>Whole-year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1143000"/>
          </a:xfrm>
          <a:prstGeom prst="rect">
            <a:avLst/>
          </a:prstGeom>
          <a:solidFill>
            <a:srgbClr val="228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40487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2"/>
                </a:solidFill>
              </a:defRPr>
            </a:pPr>
            <a:r>
              <a:t>Approx. dashboard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2500" b="1">
                <a:solidFill>
                  <a:srgbClr val="183753"/>
                </a:solidFill>
              </a:defRPr>
            </a:pPr>
            <a:r>
              <a:t>0.145M</a:t>
            </a:r>
          </a:p>
          <a:p>
            <a:pPr>
              <a:spcBef>
                <a:spcPts val="300"/>
              </a:spcBef>
              <a:defRPr sz="1100">
                <a:solidFill>
                  <a:srgbClr val="647482"/>
                </a:solidFill>
              </a:defRPr>
            </a:pPr>
            <a:r>
              <a:t>Kharif production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234440"/>
            <a:ext cx="73152" cy="1143000"/>
          </a:xfrm>
          <a:prstGeom prst="rect">
            <a:avLst/>
          </a:prstGeom>
          <a:solidFill>
            <a:srgbClr val="36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40487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2"/>
                </a:solidFill>
              </a:defRPr>
            </a:pPr>
            <a:r>
              <a:t>Approx. dashboard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2500" b="1">
                <a:solidFill>
                  <a:srgbClr val="183753"/>
                </a:solidFill>
              </a:defRPr>
            </a:pPr>
            <a:r>
              <a:t>0.108M</a:t>
            </a:r>
          </a:p>
          <a:p>
            <a:pPr>
              <a:spcBef>
                <a:spcPts val="300"/>
              </a:spcBef>
              <a:defRPr sz="1100">
                <a:solidFill>
                  <a:srgbClr val="647482"/>
                </a:solidFill>
              </a:defRPr>
            </a:pPr>
            <a:r>
              <a:t>Rabi production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73152" cy="1143000"/>
          </a:xfrm>
          <a:prstGeom prst="rect">
            <a:avLst/>
          </a:prstGeom>
          <a:solidFill>
            <a:srgbClr val="E86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40487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2"/>
                </a:solidFill>
              </a:defRPr>
            </a:pPr>
            <a:r>
              <a:t>Approx. dashboard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23444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2500" b="1">
                <a:solidFill>
                  <a:srgbClr val="183753"/>
                </a:solidFill>
              </a:defRPr>
            </a:pPr>
            <a:r>
              <a:t>0.022M</a:t>
            </a:r>
          </a:p>
          <a:p>
            <a:pPr>
              <a:spcBef>
                <a:spcPts val="300"/>
              </a:spcBef>
              <a:defRPr sz="1100">
                <a:solidFill>
                  <a:srgbClr val="647482"/>
                </a:solidFill>
              </a:defRPr>
            </a:pPr>
            <a:r>
              <a:t>Summer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59" y="1234440"/>
            <a:ext cx="73152" cy="1143000"/>
          </a:xfrm>
          <a:prstGeom prst="rect">
            <a:avLst/>
          </a:prstGeom>
          <a:solidFill>
            <a:srgbClr val="18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39" y="240487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2"/>
                </a:solidFill>
              </a:defRPr>
            </a:pPr>
            <a:r>
              <a:t>Approx. dashboard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43200"/>
            <a:ext cx="53035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WhatsApp Image 2026-10-03 at 12.31.48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648" y="2816352"/>
            <a:ext cx="4769823" cy="29260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" y="573328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2"/>
                </a:solidFill>
              </a:defRPr>
            </a:pPr>
            <a:r>
              <a:t>Seasonal distribution shown in the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43200"/>
            <a:ext cx="53035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753"/>
                </a:solidFill>
              </a:defRPr>
            </a:pPr>
            <a:r>
              <a:t>KPI interpretation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The seasonal bar chart shows the largest displayed production measure for the whole-year category.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Kharif and rabi are the next two displayed categories, while summer is much smaller.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The donut chart also shows a four-part seasonal distribution, with the largest slice labeled 1.25K (54.31%).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2"/>
                </a:solidFill>
              </a:defRPr>
            </a:pPr>
            <a:r>
              <a:t>Agricultural Production &amp; Resource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753"/>
                </a:solidFill>
                <a:latin typeface="Aptos Display"/>
              </a:defRPr>
            </a:pPr>
            <a:r>
              <a:t>Production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Seasonal production profile from the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81228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hatsApp Image 2026-10-03 at 12.31.09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307592"/>
            <a:ext cx="6647688" cy="409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961888"/>
            <a:ext cx="6537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2"/>
                </a:solidFill>
              </a:defRPr>
            </a:pPr>
            <a:r>
              <a:t>Production by season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234440"/>
            <a:ext cx="39319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753"/>
                </a:solidFill>
              </a:defRPr>
            </a:pPr>
            <a:r>
              <a:t>Key observations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Whole-year production is approximately 0.55M in the displayed chart.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Kharif is around 0.145M, followed by rabi at about 0.108M.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Summer is the smallest displayed category at roughly 0.022M.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The chart indicates strong seasonality in the observed production measures.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These values should be treated as dashboard readings rather than raw-data totals.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2"/>
                </a:solidFill>
              </a:defRPr>
            </a:pPr>
            <a:r>
              <a:t>Agricultural Production &amp; Resource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753"/>
                </a:solidFill>
                <a:latin typeface="Aptos Display"/>
              </a:defRPr>
            </a:pPr>
            <a:r>
              <a:t>Weather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Seasonal distribution represented in the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58368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hatsApp Image 2026-10-03 at 12.31.48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6583680" cy="45902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44768"/>
            <a:ext cx="6309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2"/>
                </a:solidFill>
              </a:defRPr>
            </a:pPr>
            <a:r>
              <a:t>Seasonal share / distribution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143000"/>
            <a:ext cx="429768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753"/>
                </a:solidFill>
              </a:defRPr>
            </a:pPr>
            <a:r>
              <a:t>Weather-related takeaways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The largest donut segment is whole year: 1.25K (54.31%).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Kharif contributes 0.82K (35.6%).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Rabi is 0.12K (5.14%), while summer is 0.11K (4.96%).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The visual highlights a concentration of the displayed measure in whole-year and kharif categories.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Seasonal weather interpretation should be paired with rainfall and temperature records.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2"/>
                </a:solidFill>
              </a:defRPr>
            </a:pPr>
            <a:r>
              <a:t>Agricultural Production &amp; Resource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753"/>
                </a:solidFill>
                <a:latin typeface="Aptos Display"/>
              </a:defRPr>
            </a:pPr>
            <a:r>
              <a:t>NPK Fertilizer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Crop-wise comparison of potassium, nitrogen and phosphorus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731520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hatsApp Image 2026-10-03 at 12.30.06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4148"/>
            <a:ext cx="7315200" cy="440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90488"/>
            <a:ext cx="7040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2"/>
                </a:solidFill>
              </a:defRPr>
            </a:pPr>
            <a:r>
              <a:t>Stacked comparison of K, N and P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143000"/>
            <a:ext cx="352044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753"/>
                </a:solidFill>
              </a:defRPr>
            </a:pPr>
            <a:r>
              <a:t>Interpretation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Sweet potato shows the largest combined displayed requirement.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Tomato also has a high combined requirement, with a large N component.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Turmeric and tapioca (suran) show substantial multi-nutrient requirements.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Tamarind and Ziziphus mauritiana (Bor) have smaller totals in the chart.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The stacked format supports both total-input and nutrient-mix comparisons.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2"/>
                </a:solidFill>
              </a:defRPr>
            </a:pPr>
            <a:r>
              <a:t>Agricultural Production &amp; Resource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753"/>
                </a:solidFill>
                <a:latin typeface="Aptos Display"/>
              </a:defRPr>
            </a:pPr>
            <a:r>
              <a:t>Crop Type, Area &amp; Yield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Distribution of the selected crop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6400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hatsApp Image 2026-10-03 at 12.34.32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38" y="1835980"/>
            <a:ext cx="6483017" cy="38698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144768"/>
            <a:ext cx="6126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2"/>
                </a:solidFill>
              </a:defRPr>
            </a:pPr>
            <a:r>
              <a:t>Crop-type distribution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143000"/>
            <a:ext cx="43434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753"/>
                </a:solidFill>
              </a:defRPr>
            </a:pPr>
            <a:r>
              <a:t>Crop-mix observations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Tomato and Ziziphus mauritiana (Bor) are each labeled 114 (21.43%).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Tapioca (Suran) and Water Melon are each labeled 104.5 (19.64%).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Turmeric is labeled 95 (17.86%).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The displayed categories are relatively balanced, with only modest differences between slices.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The chart can be used as a starting point for comparing crop mix with area and yield measures.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2"/>
                </a:solidFill>
              </a:defRPr>
            </a:pPr>
            <a:r>
              <a:t>Agricultural Production &amp; Resource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753"/>
                </a:solidFill>
                <a:latin typeface="Aptos Display"/>
              </a:defRPr>
            </a:pPr>
            <a:r>
              <a:t>Rainfall / Temperature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Relative composition across the displayed observations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73152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hatsApp Image 2026-10-03 at 12.33.49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1"/>
            <a:ext cx="7315200" cy="40233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144768"/>
            <a:ext cx="7040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2"/>
                </a:solidFill>
              </a:defRPr>
            </a:pPr>
            <a:r>
              <a:t>100% stacked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143000"/>
            <a:ext cx="34290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753"/>
                </a:solidFill>
              </a:defRPr>
            </a:pPr>
            <a:r>
              <a:t>How to read the chart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The chart normalizes each observation to 100%, making composition easier to compare.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The blue segment generally ranges around the mid-30% to low-40% band.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The dark-blue segment generally occupies about one-quarter of the bar.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The orange segment makes up the remaining share and varies across observations.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This visual is useful for spotting changing proportions; direct causal impact requires the underlying rainfall and temperature values.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2"/>
                </a:solidFill>
              </a:defRPr>
            </a:pPr>
            <a:r>
              <a:t>Agricultural Production &amp; Resource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753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2"/>
                </a:solidFill>
                <a:latin typeface="Aptos"/>
              </a:defRPr>
            </a:pPr>
            <a:r>
              <a:t>Summary of the dashboard-based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753"/>
                </a:solidFill>
              </a:defRPr>
            </a:pPr>
            <a:r>
              <a:t>Main findings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Production is strongly differentiated by season, with the whole-year category dominating the displayed production measure.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NPK requirements differ substantially across crops, supporting crop-specific input planning.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The crop distribution is comparatively balanced across the five highlighted crop types.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Seasonal composition charts provide a useful way to monitor shifts across agricultural periods.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753"/>
                </a:solidFill>
              </a:defRPr>
            </a:pPr>
            <a:r>
              <a:t>Suggested next steps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Use rainfall and temperature records alongside production data to test relationships rather than assuming causation.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Track fertilizer requirements by crop and season to support resource planning.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Combine area, yield and production measures for a fuller productivity assessment.</a:t>
            </a:r>
          </a:p>
          <a:p>
            <a:pPr>
              <a:spcAft>
                <a:spcPts val="9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t>• Use the dashboard as a monitoring tool and refresh it with current farm or field-level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68B5E"/>
                </a:solidFill>
              </a:defRPr>
            </a:pPr>
            <a: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2"/>
                </a:solidFill>
              </a:defRPr>
            </a:pPr>
            <a:r>
              <a:t>Agricultural Production &amp; Resource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2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104</TotalTime>
  <Words>857</Words>
  <Application>Microsoft Office PowerPoint</Application>
  <PresentationFormat>Widescreen</PresentationFormat>
  <Paragraphs>110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ELCOT</dc:creator>
  <cp:keywords/>
  <dc:description>generated using python-pptx</dc:description>
  <cp:lastModifiedBy>Shyamala Devi</cp:lastModifiedBy>
  <cp:revision>5</cp:revision>
  <dcterms:created xsi:type="dcterms:W3CDTF">2013-01-27T09:14:16Z</dcterms:created>
  <dcterms:modified xsi:type="dcterms:W3CDTF">2026-10-05T08:53:10Z</dcterms:modified>
  <cp:category/>
</cp:coreProperties>
</file>