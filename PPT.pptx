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1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876" y="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3853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925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338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53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4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02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659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24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12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14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7970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795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634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9212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22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931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9" r:id="rId1"/>
    <p:sldLayoutId id="2147483920" r:id="rId2"/>
    <p:sldLayoutId id="2147483921" r:id="rId3"/>
    <p:sldLayoutId id="2147483922" r:id="rId4"/>
    <p:sldLayoutId id="2147483923" r:id="rId5"/>
    <p:sldLayoutId id="2147483924" r:id="rId6"/>
    <p:sldLayoutId id="2147483925" r:id="rId7"/>
    <p:sldLayoutId id="2147483926" r:id="rId8"/>
    <p:sldLayoutId id="2147483927" r:id="rId9"/>
    <p:sldLayoutId id="2147483928" r:id="rId10"/>
    <p:sldLayoutId id="2147483929" r:id="rId11"/>
    <p:sldLayoutId id="2147483930" r:id="rId12"/>
    <p:sldLayoutId id="2147483931" r:id="rId13"/>
    <p:sldLayoutId id="2147483932" r:id="rId14"/>
    <p:sldLayoutId id="2147483933" r:id="rId15"/>
    <p:sldLayoutId id="2147483934" r:id="rId16"/>
    <p:sldLayoutId id="21474839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7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05877" y="2256327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3E2EC"/>
                </a:solidFill>
              </a:defRPr>
            </a:pPr>
            <a:r>
              <a:rPr dirty="0"/>
              <a:t>Production • Weather • NPK Fertilizer • Crop Mix • Climate Impact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17065D-A26F-802B-AA62-FDED6D4C2363}"/>
              </a:ext>
            </a:extLst>
          </p:cNvPr>
          <p:cNvSpPr txBox="1"/>
          <p:nvPr/>
        </p:nvSpPr>
        <p:spPr>
          <a:xfrm>
            <a:off x="1574403" y="1069623"/>
            <a:ext cx="88333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/>
              <a:t>INDIAN  AGRICULTURE</a:t>
            </a:r>
          </a:p>
        </p:txBody>
      </p:sp>
      <p:pic>
        <p:nvPicPr>
          <p:cNvPr id="12" name="Picture 11" descr="Coconut tree leaves">
            <a:extLst>
              <a:ext uri="{FF2B5EF4-FFF2-40B4-BE49-F238E27FC236}">
                <a16:creationId xmlns:a16="http://schemas.microsoft.com/office/drawing/2014/main" id="{754F178A-FE99-C444-A5A6-4704319E88F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4592" y="0"/>
            <a:ext cx="12027408" cy="68579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4B28E5-732B-FF53-4124-F321DE60B756}"/>
              </a:ext>
            </a:extLst>
          </p:cNvPr>
          <p:cNvSpPr txBox="1"/>
          <p:nvPr/>
        </p:nvSpPr>
        <p:spPr>
          <a:xfrm>
            <a:off x="447055" y="5080248"/>
            <a:ext cx="48867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dirty="0"/>
              <a:t>By</a:t>
            </a:r>
          </a:p>
          <a:p>
            <a:pPr algn="ctr"/>
            <a:r>
              <a:rPr lang="en-IN" sz="4000" dirty="0" err="1"/>
              <a:t>V.ShyamalaDevi</a:t>
            </a:r>
            <a:endParaRPr lang="en-IN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Introduction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Using dashboard visuals to understand production and resource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rPr dirty="0"/>
              <a:t>Project objectives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Summarize agricultural production across the major seasons.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Compare crop-level requirements for potassium (K), nitrogen (N) and phosphorus (P).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Examine the distribution of crop-related measures across selected crop types.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Relate seasonal conditions and weather patterns to agricultural performance.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Provide a concise evidence base for planning farm inputs and monitoring trends.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842" y="1225296"/>
            <a:ext cx="53492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rPr dirty="0"/>
              <a:t>What the dashboard helps answer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Production view: whole-year output is substantially higher than individual seasonal segments.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Resource view: fertilizer requirements vary materially by crop.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Seasonal view: the dashboard separates whole-year, kharif, rabi and summer periods.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rPr dirty="0"/>
              <a:t>• Impact view: percentage and distribution charts support comparison across observations.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KPI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Key values visible in the supplied dashboard visuals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ctr">
              <a:defRPr sz="2500" b="1">
                <a:solidFill>
                  <a:srgbClr val="183753"/>
                </a:solidFill>
              </a:defRPr>
            </a:pPr>
            <a:r>
              <a:rPr lang="en-IN" dirty="0"/>
              <a:t>2bn</a:t>
            </a:r>
            <a:endParaRPr dirty="0"/>
          </a:p>
          <a:p>
            <a:pPr algn="ctr">
              <a:spcBef>
                <a:spcPts val="300"/>
              </a:spcBef>
              <a:defRPr sz="1100">
                <a:solidFill>
                  <a:srgbClr val="647482"/>
                </a:solidFill>
              </a:defRPr>
            </a:pPr>
            <a:r>
              <a:rPr lang="en-IN" dirty="0"/>
              <a:t>Sum of Area in hectares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73152" cy="1143000"/>
          </a:xfrm>
          <a:prstGeom prst="rect">
            <a:avLst/>
          </a:prstGeom>
          <a:solidFill>
            <a:srgbClr val="228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4048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2"/>
                </a:solidFill>
              </a:defRPr>
            </a:pPr>
            <a:r>
              <a:t>Approx. dashboard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23444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ctr">
              <a:defRPr sz="2500" b="1">
                <a:solidFill>
                  <a:srgbClr val="183753"/>
                </a:solidFill>
              </a:defRPr>
            </a:pPr>
            <a:r>
              <a:rPr lang="en-IN" dirty="0"/>
              <a:t>684.30</a:t>
            </a:r>
            <a:endParaRPr dirty="0"/>
          </a:p>
          <a:p>
            <a:pPr algn="ctr">
              <a:spcBef>
                <a:spcPts val="300"/>
              </a:spcBef>
              <a:defRPr sz="1100">
                <a:solidFill>
                  <a:srgbClr val="647482"/>
                </a:solidFill>
              </a:defRPr>
            </a:pPr>
            <a:r>
              <a:rPr lang="en-IN" dirty="0" err="1"/>
              <a:t>Avg</a:t>
            </a:r>
            <a:r>
              <a:rPr lang="en-IN" dirty="0"/>
              <a:t> of Rainfall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3474720" y="1234440"/>
            <a:ext cx="73152" cy="1143000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4048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2"/>
                </a:solidFill>
              </a:defRPr>
            </a:pPr>
            <a:r>
              <a:t>Approx. dashboard 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3444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ctr">
              <a:defRPr sz="2500" b="1">
                <a:solidFill>
                  <a:srgbClr val="183753"/>
                </a:solidFill>
              </a:defRPr>
            </a:pPr>
            <a:r>
              <a:rPr lang="en-IN" dirty="0"/>
              <a:t>8bn</a:t>
            </a:r>
            <a:endParaRPr dirty="0"/>
          </a:p>
          <a:p>
            <a:pPr algn="ctr">
              <a:spcBef>
                <a:spcPts val="300"/>
              </a:spcBef>
              <a:defRPr sz="1100">
                <a:solidFill>
                  <a:srgbClr val="647482"/>
                </a:solidFill>
              </a:defRPr>
            </a:pPr>
            <a:r>
              <a:rPr lang="en-IN" dirty="0"/>
              <a:t>Sum of </a:t>
            </a:r>
            <a:r>
              <a:rPr dirty="0"/>
              <a:t>production</a:t>
            </a:r>
            <a:r>
              <a:rPr lang="en-IN" dirty="0"/>
              <a:t> in tons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73152" cy="1143000"/>
          </a:xfrm>
          <a:prstGeom prst="rect">
            <a:avLst/>
          </a:prstGeom>
          <a:solidFill>
            <a:srgbClr val="E86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4048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2"/>
                </a:solidFill>
              </a:defRPr>
            </a:pPr>
            <a:r>
              <a:t>Approx. dashboard value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59" y="123444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ctr">
              <a:defRPr sz="2500" b="1">
                <a:solidFill>
                  <a:srgbClr val="183753"/>
                </a:solidFill>
              </a:defRPr>
            </a:pPr>
            <a:r>
              <a:rPr lang="en-IN" dirty="0"/>
              <a:t>5.59</a:t>
            </a:r>
          </a:p>
          <a:p>
            <a:pPr algn="ctr">
              <a:spcBef>
                <a:spcPts val="300"/>
              </a:spcBef>
              <a:defRPr sz="1100">
                <a:solidFill>
                  <a:srgbClr val="647482"/>
                </a:solidFill>
              </a:defRPr>
            </a:pPr>
            <a:r>
              <a:rPr lang="en-IN" dirty="0"/>
              <a:t>PH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59" y="1234440"/>
            <a:ext cx="73152" cy="1143000"/>
          </a:xfrm>
          <a:prstGeom prst="rect">
            <a:avLst/>
          </a:prstGeom>
          <a:solidFill>
            <a:srgbClr val="183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35439" y="24048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2"/>
                </a:solidFill>
              </a:defRPr>
            </a:pPr>
            <a:r>
              <a:t>Approx. dashboard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743200"/>
            <a:ext cx="530352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WhatsApp Image 2026-10-03 at 12.31.48 P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648" y="2816352"/>
            <a:ext cx="4769823" cy="29260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" y="5733288"/>
            <a:ext cx="5029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2"/>
                </a:solidFill>
              </a:defRPr>
            </a:pPr>
            <a:r>
              <a:t>Seasonal distribution shown in the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743200"/>
            <a:ext cx="530352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KPI interpretation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seasonal bar chart shows the largest displayed production measure for the whole-year category.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Kharif and rabi are the next two displayed categories, while summer is much smaller.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donut chart also shows a four-part seasonal distribution, with the largest slice labeled 1.25K (54.31%).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Production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Seasonal production profile from the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681228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sApp Image 2026-10-03 at 12.31.09 P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307592"/>
            <a:ext cx="6647688" cy="40962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61888"/>
            <a:ext cx="6537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2"/>
                </a:solidFill>
              </a:defRPr>
            </a:pPr>
            <a:r>
              <a:t>Production by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234440"/>
            <a:ext cx="3931920" cy="507492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Key observations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Whole-year production is approximately 0.55M in the displayed chart.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Kharif is around 0.145M, followed by rabi at about 0.108M.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Summer is the smallest displayed category at roughly 0.022M.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chart indicates strong seasonality in the observed production measures.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These values should be treated as dashboard readings rather than raw-data totals.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NPK Fertilizer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Crop-wise comparison of potassium, nitrogen and phosphorus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73152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sApp Image 2026-10-03 at 12.30.06 P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4148"/>
            <a:ext cx="7315200" cy="440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90488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2"/>
                </a:solidFill>
              </a:defRPr>
            </a:pPr>
            <a:r>
              <a:t>Stacked comparison of K, N and P requirements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143000"/>
            <a:ext cx="352044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Interpretation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Sweet potato shows the largest combined displayed requirement.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Tomato also has a high combined requirement, with a large N component.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Turmeric and tapioca (suran) show substantial multi-nutrient requirements.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Tamarind and Ziziphus mauritiana (Bor) have smaller totals in the chart.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stacked format supports both total-input and nutrient-mix comparisons.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Crop Type, Area &amp;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Distribution of the selected crop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640080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sApp Image 2026-10-03 at 12.34.32 P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38" y="1835980"/>
            <a:ext cx="6483017" cy="38698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144768"/>
            <a:ext cx="6126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2"/>
                </a:solidFill>
              </a:defRPr>
            </a:pPr>
            <a:r>
              <a:t>Crop-type distribution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143000"/>
            <a:ext cx="434340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Crop-mix observations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Tomato and Ziziphus mauritiana (Bor) are each labeled 114 (21.43%).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Tapioca (Suran) and Water Melon are each labeled 104.5 (19.64%).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Turmeric is labeled 95 (17.86%).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displayed categories are relatively balanced, with only modest differences between slices.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chart can be used as a starting point for comparing crop mix with area and yield measures.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Rainfall / Temperature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Relative composition across the displayed observations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731520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sApp Image 2026-10-03 at 12.33.49 P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1"/>
            <a:ext cx="7315200" cy="4023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144768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2"/>
                </a:solidFill>
              </a:defRPr>
            </a:pPr>
            <a:r>
              <a:t>100% stacked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143000"/>
            <a:ext cx="342900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How to read the chart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chart normalizes each observation to 100%, making composition easier to compare.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blue segment generally ranges around the mid-30% to low-40% band.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dark-blue segment generally occupies about one-quarter of the bar.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orange segment makes up the remaining share and varies across observations.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This visual is useful for spotting changing proportions; direct causal impact requires the underlying rainfall and temperature values.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68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753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2"/>
                </a:solidFill>
                <a:latin typeface="Aptos"/>
              </a:defRPr>
            </a:pPr>
            <a:r>
              <a:t>Summary of the dashboard-based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53492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Main findings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Production is strongly differentiated by season, with the whole-year category dominating the displayed production measure.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NPK requirements differ substantially across crops, supporting crop-specific input planning.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The crop distribution is comparatively balanced across the five highlighted crop types.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Seasonal composition charts provide a useful way to monitor shifts across agricultural periods.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3035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83753"/>
                </a:solidFill>
              </a:defRPr>
            </a:pPr>
            <a:r>
              <a:t>Suggested next steps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Use rainfall and temperature records alongside production data to test relationships rather than assuming causation.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Track fertilizer requirements by crop and season to support resource planning.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Combine area, yield and production measures for a fuller productivity assessment.</a:t>
            </a:r>
          </a:p>
          <a:p>
            <a:pPr>
              <a:spcAft>
                <a:spcPts val="9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Use the dashboard as a monitoring tool and refresh it with current farm or field-level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68B5E"/>
                </a:solidFill>
              </a:defRPr>
            </a:pPr>
            <a: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D2D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6510528"/>
            <a:ext cx="10515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2"/>
                </a:solidFill>
              </a:defRPr>
            </a:pPr>
            <a:r>
              <a:t>Agricultural Production &amp; 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92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2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136</TotalTime>
  <Words>780</Words>
  <Application>Microsoft Office PowerPoint</Application>
  <PresentationFormat>Widescreen</PresentationFormat>
  <Paragraphs>99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ELCOT</dc:creator>
  <cp:keywords/>
  <dc:description>generated using python-pptx</dc:description>
  <cp:lastModifiedBy>Shyamala Devi</cp:lastModifiedBy>
  <cp:revision>6</cp:revision>
  <dcterms:created xsi:type="dcterms:W3CDTF">2013-01-27T09:14:16Z</dcterms:created>
  <dcterms:modified xsi:type="dcterms:W3CDTF">2026-10-06T09:20:25Z</dcterms:modified>
  <cp:category/>
</cp:coreProperties>
</file>